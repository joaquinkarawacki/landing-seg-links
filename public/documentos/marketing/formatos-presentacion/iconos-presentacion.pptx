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110" d="100"/>
          <a:sy n="110" d="100"/>
        </p:scale>
        <p:origin x="-1056" y="-10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6331B-3535-0BDB-AFBD-FB5BFCAC9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A7C0B6-0243-CD6F-8880-C43ACDFB3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9E8DF-0F2B-D3C8-12F9-6C54457E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4596DA-E787-B900-A03B-67B05E95D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191CC2-C6B6-CD1B-3004-C407BF6A8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653718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F1E65-417F-420E-032C-CE2DC2DC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2817F-5306-1681-686E-8C0A4D0AC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47474D-C306-2538-9F88-4417A46C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8A4B81-F85B-1AF7-5FE1-6938882F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CB1E3B-AD57-8A84-557F-9A04663D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55246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6E35F-1F48-E0B4-2807-6B6BD4D5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3AFD77-43C2-9440-EB1B-4B29C070F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5324CC-AE27-7B81-20A8-0FD906B3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EE8479-819E-5548-E007-5BE646BB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D5911-C452-B052-72B3-E802CB73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80231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CAE6B-4C98-3E9D-167E-4CFD51C9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F1D5A-11DC-8BB6-F87F-DD96ECE71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A7A063-1845-BCF6-66B2-9AD8EB681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FEC1A9-F23E-E42F-DE78-8B0142C9A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B8F1AF-7E80-8253-B08F-4ED13E88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9C6862-EFFE-49F6-AD33-6D85BFAA3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76240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4D738-C22B-C895-3F71-0914DE96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CC23F9-7F8B-7B17-78FE-BB928EC7E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BDEC81-E86A-3762-D6C1-587C7078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4E5C1-F70A-76D9-B193-A741FEC8B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223775-6F8E-823B-1107-FF2D62486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5F7F83-3EE3-A40C-D8D1-114CB6CF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48CB88-7809-8868-9EF8-58CC74ECB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38BB2A-588A-CB45-CBB5-355317BD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80443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76A0F-D76E-E534-7632-422D1381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953596-F9C4-F47E-00A0-8C70B838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781C04-22CC-8C8C-E4AC-918B9D3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B0827F-DE68-A4A3-D2BB-48D7AB57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28570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B341F7-EE5C-1979-F2E8-8060D7178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C4AA66-AC68-B67C-2BB5-77ACE976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DED64A-8C9E-FCA0-7C3D-E473164CC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36321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6BC10-CF8B-6B8A-5D26-0F30B3DF6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0FD265-2F47-9574-AEA0-53C89BC8D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6437FB-F294-0517-6069-FBB9C4D01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C8912B-697D-4C9E-19F6-2C246A77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34D9E9-7341-E237-B3A3-51B14718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B239C1-AFED-7A1E-9156-80E5A2A6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77284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A8CDC-A614-2DD6-C200-726ABA71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2C94E4-A3F1-E221-0A9A-63B78E6C09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8E2B7F-0A37-9890-5C7E-71521BAF3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D5A87B-6D1E-707A-C5AA-90524D36E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AB5B79-D7BC-E9CE-6DC2-EA6F0B434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477EFD-7F36-28CD-2E37-722B62FC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79981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083CA-610E-F25D-1EBC-481EF1497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5B6109-F8AB-862D-8403-B0EDE9AA0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8FC0BF-075E-477A-7872-6A3D022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7133A7-2342-3F49-7958-95CE6F4AE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7195BD-DB3D-56C5-9ECC-8D58F404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23965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DDFA2C-9089-76B2-E0B2-1ACB9E27D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398529-85D6-8DB5-58C5-4533FF6E7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AFBF77-695B-ECA6-9104-54B93A0C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AC905A-7B23-FF4D-FF45-89DB7719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38CEDE-935B-AB6A-3E84-63CA78CF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19115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97D58C7-C643-5BFA-E7D4-B1397C67B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7E93EF-6B52-DBF6-3F69-F09ABE51B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A7B3DF-916E-15B6-C282-DF265F46C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8B429-79DD-4EB9-97A4-877890E73BC3}" type="datetimeFigureOut">
              <a:rPr lang="es-UY" smtClean="0"/>
              <a:t>27/8/2026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C2AAF2-F50A-4F4C-BC1B-639B36E92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D32D27-029E-DCDC-794E-05B4C4E56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0DE59-C9DA-44CC-ACB5-0AC0009D93B2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70443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2E559BFF-1C26-D0F8-51A5-8DB647EB25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4271" y="1035278"/>
            <a:ext cx="457199" cy="460248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BF801038-667C-7035-1C24-CCD4B64521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4271" y="2358109"/>
            <a:ext cx="457199" cy="460243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25964F15-CF2F-9B68-7AEC-D597B8FDDA4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4271" y="3683985"/>
            <a:ext cx="457199" cy="457200"/>
          </a:xfrm>
          <a:prstGeom prst="rect">
            <a:avLst/>
          </a:prstGeom>
        </p:spPr>
      </p:pic>
      <p:pic>
        <p:nvPicPr>
          <p:cNvPr id="11" name="object 5">
            <a:extLst>
              <a:ext uri="{FF2B5EF4-FFF2-40B4-BE49-F238E27FC236}">
                <a16:creationId xmlns:a16="http://schemas.microsoft.com/office/drawing/2014/main" id="{0F30D847-C671-9527-29A0-C51767020CB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4271" y="5006817"/>
            <a:ext cx="457199" cy="460247"/>
          </a:xfrm>
          <a:prstGeom prst="rect">
            <a:avLst/>
          </a:prstGeom>
        </p:spPr>
      </p:pic>
      <p:pic>
        <p:nvPicPr>
          <p:cNvPr id="13" name="object 6">
            <a:extLst>
              <a:ext uri="{FF2B5EF4-FFF2-40B4-BE49-F238E27FC236}">
                <a16:creationId xmlns:a16="http://schemas.microsoft.com/office/drawing/2014/main" id="{E98ED99E-BD4E-3C9B-D142-49C0EEDEF4E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2413" y="1035278"/>
            <a:ext cx="460249" cy="460248"/>
          </a:xfrm>
          <a:prstGeom prst="rect">
            <a:avLst/>
          </a:prstGeom>
        </p:spPr>
      </p:pic>
      <p:pic>
        <p:nvPicPr>
          <p:cNvPr id="15" name="object 7">
            <a:extLst>
              <a:ext uri="{FF2B5EF4-FFF2-40B4-BE49-F238E27FC236}">
                <a16:creationId xmlns:a16="http://schemas.microsoft.com/office/drawing/2014/main" id="{DDA481B1-692D-9A9E-6A7C-D7A308DEE39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32413" y="2358109"/>
            <a:ext cx="460249" cy="460243"/>
          </a:xfrm>
          <a:prstGeom prst="rect">
            <a:avLst/>
          </a:prstGeom>
        </p:spPr>
      </p:pic>
      <p:pic>
        <p:nvPicPr>
          <p:cNvPr id="17" name="object 8">
            <a:extLst>
              <a:ext uri="{FF2B5EF4-FFF2-40B4-BE49-F238E27FC236}">
                <a16:creationId xmlns:a16="http://schemas.microsoft.com/office/drawing/2014/main" id="{4050148F-C58E-A865-9A0A-CBA851B4B6F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32413" y="3683985"/>
            <a:ext cx="460249" cy="457200"/>
          </a:xfrm>
          <a:prstGeom prst="rect">
            <a:avLst/>
          </a:prstGeom>
        </p:spPr>
      </p:pic>
      <p:pic>
        <p:nvPicPr>
          <p:cNvPr id="19" name="object 9">
            <a:extLst>
              <a:ext uri="{FF2B5EF4-FFF2-40B4-BE49-F238E27FC236}">
                <a16:creationId xmlns:a16="http://schemas.microsoft.com/office/drawing/2014/main" id="{5E3187AF-6106-0097-3C7C-D74EAB1E4D2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32413" y="5006817"/>
            <a:ext cx="460249" cy="460247"/>
          </a:xfrm>
          <a:prstGeom prst="rect">
            <a:avLst/>
          </a:prstGeom>
        </p:spPr>
      </p:pic>
      <p:pic>
        <p:nvPicPr>
          <p:cNvPr id="21" name="object 10">
            <a:extLst>
              <a:ext uri="{FF2B5EF4-FFF2-40B4-BE49-F238E27FC236}">
                <a16:creationId xmlns:a16="http://schemas.microsoft.com/office/drawing/2014/main" id="{3371E46F-80C9-6099-CC55-5F052D57C316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73601" y="1035278"/>
            <a:ext cx="457199" cy="460248"/>
          </a:xfrm>
          <a:prstGeom prst="rect">
            <a:avLst/>
          </a:prstGeom>
        </p:spPr>
      </p:pic>
      <p:pic>
        <p:nvPicPr>
          <p:cNvPr id="23" name="object 11">
            <a:extLst>
              <a:ext uri="{FF2B5EF4-FFF2-40B4-BE49-F238E27FC236}">
                <a16:creationId xmlns:a16="http://schemas.microsoft.com/office/drawing/2014/main" id="{23167ADE-7113-D7F5-3CC0-0449CA01F08C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73601" y="2361157"/>
            <a:ext cx="457199" cy="457195"/>
          </a:xfrm>
          <a:prstGeom prst="rect">
            <a:avLst/>
          </a:prstGeom>
        </p:spPr>
      </p:pic>
      <p:pic>
        <p:nvPicPr>
          <p:cNvPr id="25" name="object 12">
            <a:extLst>
              <a:ext uri="{FF2B5EF4-FFF2-40B4-BE49-F238E27FC236}">
                <a16:creationId xmlns:a16="http://schemas.microsoft.com/office/drawing/2014/main" id="{CD1A5940-C372-BE82-8661-EDB3740149D9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73601" y="3683985"/>
            <a:ext cx="457199" cy="457200"/>
          </a:xfrm>
          <a:prstGeom prst="rect">
            <a:avLst/>
          </a:prstGeom>
        </p:spPr>
      </p:pic>
      <p:pic>
        <p:nvPicPr>
          <p:cNvPr id="27" name="object 13">
            <a:extLst>
              <a:ext uri="{FF2B5EF4-FFF2-40B4-BE49-F238E27FC236}">
                <a16:creationId xmlns:a16="http://schemas.microsoft.com/office/drawing/2014/main" id="{01AD471D-2B6B-01B7-090F-51335876DA86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273601" y="5006817"/>
            <a:ext cx="457199" cy="460247"/>
          </a:xfrm>
          <a:prstGeom prst="rect">
            <a:avLst/>
          </a:prstGeom>
        </p:spPr>
      </p:pic>
      <p:sp>
        <p:nvSpPr>
          <p:cNvPr id="29" name="object 14">
            <a:extLst>
              <a:ext uri="{FF2B5EF4-FFF2-40B4-BE49-F238E27FC236}">
                <a16:creationId xmlns:a16="http://schemas.microsoft.com/office/drawing/2014/main" id="{3D9674FF-497A-84CD-79CF-F9EDF1BC3A9F}"/>
              </a:ext>
            </a:extLst>
          </p:cNvPr>
          <p:cNvSpPr txBox="1"/>
          <p:nvPr/>
        </p:nvSpPr>
        <p:spPr>
          <a:xfrm>
            <a:off x="1367857" y="1600123"/>
            <a:ext cx="1410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Eficiencia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1" name="object 15">
            <a:extLst>
              <a:ext uri="{FF2B5EF4-FFF2-40B4-BE49-F238E27FC236}">
                <a16:creationId xmlns:a16="http://schemas.microsoft.com/office/drawing/2014/main" id="{9AACB796-7829-4136-CE1B-AD35331DB3DA}"/>
              </a:ext>
            </a:extLst>
          </p:cNvPr>
          <p:cNvSpPr txBox="1"/>
          <p:nvPr/>
        </p:nvSpPr>
        <p:spPr>
          <a:xfrm>
            <a:off x="4807347" y="1600123"/>
            <a:ext cx="14039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Energías</a:t>
            </a:r>
            <a:r>
              <a:rPr sz="1200" spc="-7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renovables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3" name="object 16">
            <a:extLst>
              <a:ext uri="{FF2B5EF4-FFF2-40B4-BE49-F238E27FC236}">
                <a16:creationId xmlns:a16="http://schemas.microsoft.com/office/drawing/2014/main" id="{24C18E9C-F08D-3E0C-3F7A-ED0D4106BBEE}"/>
              </a:ext>
            </a:extLst>
          </p:cNvPr>
          <p:cNvSpPr txBox="1"/>
          <p:nvPr/>
        </p:nvSpPr>
        <p:spPr>
          <a:xfrm>
            <a:off x="8255976" y="1594943"/>
            <a:ext cx="2639060" cy="39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largo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plazo</a:t>
            </a:r>
            <a:r>
              <a:rPr sz="1200" spc="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costo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marginal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 generación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5" name="object 17">
            <a:extLst>
              <a:ext uri="{FF2B5EF4-FFF2-40B4-BE49-F238E27FC236}">
                <a16:creationId xmlns:a16="http://schemas.microsoft.com/office/drawing/2014/main" id="{FF13317C-B03B-3FAE-783A-D0ECE7C255A9}"/>
              </a:ext>
            </a:extLst>
          </p:cNvPr>
          <p:cNvSpPr txBox="1"/>
          <p:nvPr/>
        </p:nvSpPr>
        <p:spPr>
          <a:xfrm>
            <a:off x="1367849" y="2918015"/>
            <a:ext cx="219710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Desarrollo</a:t>
            </a:r>
            <a:r>
              <a:rPr sz="1200" spc="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programas</a:t>
            </a:r>
            <a:r>
              <a:rPr sz="1200" spc="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de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Medición,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Reporte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Verificación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7" name="object 18">
            <a:extLst>
              <a:ext uri="{FF2B5EF4-FFF2-40B4-BE49-F238E27FC236}">
                <a16:creationId xmlns:a16="http://schemas.microsoft.com/office/drawing/2014/main" id="{103D3DF0-5191-28B9-EF7D-BCF6928F90A9}"/>
              </a:ext>
            </a:extLst>
          </p:cNvPr>
          <p:cNvSpPr txBox="1"/>
          <p:nvPr/>
        </p:nvSpPr>
        <p:spPr>
          <a:xfrm>
            <a:off x="4812822" y="2923195"/>
            <a:ext cx="2467610" cy="41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</a:t>
            </a:r>
            <a:r>
              <a:rPr sz="12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en</a:t>
            </a:r>
            <a:r>
              <a:rPr sz="1200" spc="-5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sectores</a:t>
            </a:r>
            <a:r>
              <a:rPr sz="1200" spc="-4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vulnerables (regularizaciones,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uso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200" spc="-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energía)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54EFA9B2-18AD-DF66-ECB7-E369B0A2C741}"/>
              </a:ext>
            </a:extLst>
          </p:cNvPr>
          <p:cNvSpPr txBox="1"/>
          <p:nvPr/>
        </p:nvSpPr>
        <p:spPr>
          <a:xfrm>
            <a:off x="8246837" y="5601574"/>
            <a:ext cx="1543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Encuestas</a:t>
            </a:r>
            <a:r>
              <a:rPr sz="12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energéticas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1" name="object 20">
            <a:extLst>
              <a:ext uri="{FF2B5EF4-FFF2-40B4-BE49-F238E27FC236}">
                <a16:creationId xmlns:a16="http://schemas.microsoft.com/office/drawing/2014/main" id="{584F5B4B-1D7A-08BD-BA82-3A8E42A226CE}"/>
              </a:ext>
            </a:extLst>
          </p:cNvPr>
          <p:cNvSpPr txBox="1"/>
          <p:nvPr/>
        </p:nvSpPr>
        <p:spPr>
          <a:xfrm>
            <a:off x="1373330" y="4279211"/>
            <a:ext cx="174434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precio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55" dirty="0">
                <a:solidFill>
                  <a:srgbClr val="666666"/>
                </a:solidFill>
                <a:latin typeface="Microsoft Sans Serif"/>
                <a:cs typeface="Microsoft Sans Serif"/>
              </a:rPr>
              <a:t>SPOT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(SimSEE)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3" name="object 21">
            <a:extLst>
              <a:ext uri="{FF2B5EF4-FFF2-40B4-BE49-F238E27FC236}">
                <a16:creationId xmlns:a16="http://schemas.microsoft.com/office/drawing/2014/main" id="{EEDD0094-38DB-C04C-93F1-8DA5535D4927}"/>
              </a:ext>
            </a:extLst>
          </p:cNvPr>
          <p:cNvSpPr txBox="1"/>
          <p:nvPr/>
        </p:nvSpPr>
        <p:spPr>
          <a:xfrm>
            <a:off x="4816328" y="4294130"/>
            <a:ext cx="1932939" cy="4102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peajes</a:t>
            </a:r>
            <a:r>
              <a:rPr sz="1200" spc="-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la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red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5" name="object 22">
            <a:extLst>
              <a:ext uri="{FF2B5EF4-FFF2-40B4-BE49-F238E27FC236}">
                <a16:creationId xmlns:a16="http://schemas.microsoft.com/office/drawing/2014/main" id="{78D0CF87-A9CA-A5B9-C8CE-18B18FA06F21}"/>
              </a:ext>
            </a:extLst>
          </p:cNvPr>
          <p:cNvSpPr txBox="1"/>
          <p:nvPr/>
        </p:nvSpPr>
        <p:spPr>
          <a:xfrm>
            <a:off x="8246837" y="4303482"/>
            <a:ext cx="1303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Movilidad</a:t>
            </a:r>
            <a:r>
              <a:rPr sz="1200" spc="1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eléctrica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7" name="object 23">
            <a:extLst>
              <a:ext uri="{FF2B5EF4-FFF2-40B4-BE49-F238E27FC236}">
                <a16:creationId xmlns:a16="http://schemas.microsoft.com/office/drawing/2014/main" id="{E9D7B38B-94F9-EE39-806A-86B0C2A1D679}"/>
              </a:ext>
            </a:extLst>
          </p:cNvPr>
          <p:cNvSpPr txBox="1"/>
          <p:nvPr/>
        </p:nvSpPr>
        <p:spPr>
          <a:xfrm>
            <a:off x="1367857" y="5601574"/>
            <a:ext cx="2381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del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mercado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desregulado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9" name="object 24">
            <a:extLst>
              <a:ext uri="{FF2B5EF4-FFF2-40B4-BE49-F238E27FC236}">
                <a16:creationId xmlns:a16="http://schemas.microsoft.com/office/drawing/2014/main" id="{23D8784C-45B7-84BD-F212-FB4E1E09467F}"/>
              </a:ext>
            </a:extLst>
          </p:cNvPr>
          <p:cNvSpPr txBox="1"/>
          <p:nvPr/>
        </p:nvSpPr>
        <p:spPr>
          <a:xfrm>
            <a:off x="4807347" y="5601574"/>
            <a:ext cx="2259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Hidrógeno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verde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200" spc="1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sus</a:t>
            </a:r>
            <a:r>
              <a:rPr sz="1200" spc="1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derivados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51" name="object 25">
            <a:extLst>
              <a:ext uri="{FF2B5EF4-FFF2-40B4-BE49-F238E27FC236}">
                <a16:creationId xmlns:a16="http://schemas.microsoft.com/office/drawing/2014/main" id="{9A3B43D7-0B5B-05BF-F375-4D22B928E54B}"/>
              </a:ext>
            </a:extLst>
          </p:cNvPr>
          <p:cNvSpPr txBox="1"/>
          <p:nvPr/>
        </p:nvSpPr>
        <p:spPr>
          <a:xfrm>
            <a:off x="8260087" y="2933293"/>
            <a:ext cx="2607310" cy="40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Estudios</a:t>
            </a:r>
            <a:r>
              <a:rPr sz="12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4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factibilidad</a:t>
            </a:r>
            <a:r>
              <a:rPr sz="1200" spc="3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técnica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y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económica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de</a:t>
            </a:r>
            <a:r>
              <a:rPr sz="1200" spc="-25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666666"/>
                </a:solidFill>
                <a:latin typeface="Microsoft Sans Serif"/>
                <a:cs typeface="Microsoft Sans Serif"/>
              </a:rPr>
              <a:t>proyectos</a:t>
            </a:r>
            <a:r>
              <a:rPr sz="1200" spc="-20" dirty="0">
                <a:solidFill>
                  <a:srgbClr val="666666"/>
                </a:solidFill>
                <a:latin typeface="Microsoft Sans Serif"/>
                <a:cs typeface="Microsoft Sans Serif"/>
              </a:rPr>
              <a:t> </a:t>
            </a:r>
            <a:r>
              <a:rPr sz="1200" spc="-10" dirty="0">
                <a:solidFill>
                  <a:srgbClr val="666666"/>
                </a:solidFill>
                <a:latin typeface="Microsoft Sans Serif"/>
                <a:cs typeface="Microsoft Sans Serif"/>
              </a:rPr>
              <a:t>energéticos</a:t>
            </a:r>
            <a:endParaRPr sz="12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771967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EFB750CCFE0B468D1762D324B67001" ma:contentTypeVersion="16" ma:contentTypeDescription="Crear nuevo documento." ma:contentTypeScope="" ma:versionID="ec7988f429e7363b98d5af7af92705c1">
  <xsd:schema xmlns:xsd="http://www.w3.org/2001/XMLSchema" xmlns:xs="http://www.w3.org/2001/XMLSchema" xmlns:p="http://schemas.microsoft.com/office/2006/metadata/properties" xmlns:ns2="2e37229c-000f-4fa5-a2c0-565f0851c53e" xmlns:ns3="091abbf7-70fb-4eb5-bbc3-2256242710eb" xmlns:ns4="64617137-e8c6-4507-8083-4d850d9c2cee" targetNamespace="http://schemas.microsoft.com/office/2006/metadata/properties" ma:root="true" ma:fieldsID="be25b07e81668e5aa686c443fca40db9" ns2:_="" ns3:_="" ns4:_="">
    <xsd:import namespace="2e37229c-000f-4fa5-a2c0-565f0851c53e"/>
    <xsd:import namespace="091abbf7-70fb-4eb5-bbc3-2256242710eb"/>
    <xsd:import namespace="64617137-e8c6-4507-8083-4d850d9c2c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4:SharedWithUsers" minOccurs="0"/>
                <xsd:element ref="ns4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37229c-000f-4fa5-a2c0-565f0851c5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8807681e-29d3-46ca-a868-37d279d1ae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abbf7-70fb-4eb5-bbc3-2256242710e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5f292ac-2348-4834-bad7-d8b15190e092}" ma:internalName="TaxCatchAll" ma:showField="CatchAllData" ma:web="091abbf7-70fb-4eb5-bbc3-2256242710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17137-e8c6-4507-8083-4d850d9c2ce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91abbf7-70fb-4eb5-bbc3-2256242710eb" xsi:nil="true"/>
    <lcf76f155ced4ddcb4097134ff3c332f xmlns="2e37229c-000f-4fa5-a2c0-565f0851c53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46B7C9A-970A-485D-A321-20EE7AD3780F}"/>
</file>

<file path=customXml/itemProps2.xml><?xml version="1.0" encoding="utf-8"?>
<ds:datastoreItem xmlns:ds="http://schemas.openxmlformats.org/officeDocument/2006/customXml" ds:itemID="{6AEBD1BD-3B55-4FE2-B4FE-4D8963CE89B5}"/>
</file>

<file path=customXml/itemProps3.xml><?xml version="1.0" encoding="utf-8"?>
<ds:datastoreItem xmlns:ds="http://schemas.openxmlformats.org/officeDocument/2006/customXml" ds:itemID="{C51A681D-6DDE-4388-84BE-20DDF5687A2F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Microsoft Sans Serif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Sheila Olsen-Böje</dc:creator>
  <cp:lastModifiedBy>Sheila Olsen-Böje</cp:lastModifiedBy>
  <cp:revision>1</cp:revision>
  <dcterms:created xsi:type="dcterms:W3CDTF">2026-08-27T14:09:09Z</dcterms:created>
  <dcterms:modified xsi:type="dcterms:W3CDTF">2026-08-27T14:10:17Z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0x01010097EFB750CCFE0B468D1762D324B67001</vt:lpwstr>
  </property>
</Properties>
</file>